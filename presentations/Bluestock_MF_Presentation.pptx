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Fund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112</c:v>
                </c:pt>
                <c:pt idx="2">
                  <c:v>125</c:v>
                </c:pt>
                <c:pt idx="3">
                  <c:v>140</c:v>
                </c:pt>
                <c:pt idx="4">
                  <c:v>158</c:v>
                </c:pt>
                <c:pt idx="5">
                  <c:v>173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Debt Fund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104</c:v>
                </c:pt>
                <c:pt idx="2">
                  <c:v>108</c:v>
                </c:pt>
                <c:pt idx="3">
                  <c:v>112</c:v>
                </c:pt>
                <c:pt idx="4">
                  <c:v>117</c:v>
                </c:pt>
                <c:pt idx="5">
                  <c:v>121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 Fund</c:v>
                </c:pt>
              </c:strCache>
            </c:strRef>
          </c:tx>
          <c:spPr>
            <a:solidFill>
              <a:srgbClr val="02C39A"/>
            </a:solidFill>
            <a:ln w="254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107</c:v>
                </c:pt>
                <c:pt idx="2">
                  <c:v>115</c:v>
                </c:pt>
                <c:pt idx="3">
                  <c:v>124</c:v>
                </c:pt>
                <c:pt idx="4">
                  <c:v>135</c:v>
                </c:pt>
                <c:pt idx="5">
                  <c:v>146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bubble3D val="0"/>
            <c:spPr>
              <a:solidFill>
                <a:srgbClr val="5B2D8E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ELSS</c:v>
                </c:pt>
                <c:pt idx="4">
                  <c:v>Index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</c:v>
                </c:pt>
                <c:pt idx="1">
                  <c:v>22</c:v>
                </c:pt>
                <c:pt idx="2">
                  <c:v>18</c:v>
                </c:pt>
                <c:pt idx="3">
                  <c:v>10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5 Funds by 1Y Returns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 Returns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Fund A</c:v>
                  </c:pt>
                  <c:pt idx="1">
                    <c:v>Fund B</c:v>
                  </c:pt>
                  <c:pt idx="2">
                    <c:v>Fund C</c:v>
                  </c:pt>
                  <c:pt idx="3">
                    <c:v>Fund D</c:v>
                  </c:pt>
                  <c:pt idx="4">
                    <c:v>Fund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28.4</c:v>
                </c:pt>
                <c:pt idx="1">
                  <c:v>24.1</c:v>
                </c:pt>
                <c:pt idx="2">
                  <c:v>21.7</c:v>
                </c:pt>
                <c:pt idx="3">
                  <c:v>19.3</c:v>
                </c:pt>
                <c:pt idx="4">
                  <c:v>16.8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project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 in current market tools and what this project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12 CSV files and live API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5-stage pipeline from raw data to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NAV trends across fund categories over 5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fund distribution and top performing funds by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risk metric and its significance for fund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scorecard — how composite scores are calculated.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Power BI dashboard live if possible. Mention 4 main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risk and recommendation pages of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top findings — what the data actually revealed.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Invite questions. Demo the dashboard live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 Fund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· EDA · Risk Metrics · Power BI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Abuzar  |  Saireddy  |  Vardhan  |  Kartik  |  Shruthi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Internship Capstone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❗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is fragmented across multiple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ETL pipeline exists for Indian MF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 like Alpha, Beta &amp; Sharpe Ratio not easily accessible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lack data-driven fund recommendation tools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6F7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Objective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ETL pipeline for 12 MF CSV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with Plotly visualizations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performance &amp; risk metrics (Alpha, Beta, Sharpe)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Power BI dashboard + fund recommender engine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mfapi.in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data fetched via REST API for all Indian mutual funds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📂  12 CSV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fund_details, nav_history, benchmark, risk_metrics, scorecard &amp; more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 SQLite DB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1554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 — structured storage with schema.sql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AMFI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amfi_code — official mutual fund identifiers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Benchmark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index data for Alpha/Beta calculation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 Derived Metrics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474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alpha_beta.csv, fund_scorecard.csv, tracking_error.csv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3200400"/>
          </a:xfrm>
          <a:prstGeom prst="roundRect">
            <a:avLst>
              <a:gd name="adj" fmla="val 75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48840" y="1097280"/>
            <a:ext cx="1463040" cy="3200400"/>
          </a:xfrm>
          <a:prstGeom prst="roundRect">
            <a:avLst>
              <a:gd name="adj" fmla="val 7500"/>
            </a:avLst>
          </a:prstGeom>
          <a:solidFill>
            <a:srgbClr val="027A5F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2199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Calc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1463040" cy="3200400"/>
          </a:xfrm>
          <a:prstGeom prst="roundRect">
            <a:avLst>
              <a:gd name="adj" fmla="val 7500"/>
            </a:avLst>
          </a:prstGeom>
          <a:solidFill>
            <a:srgbClr val="0A5C8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1363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32120" y="1097280"/>
            <a:ext cx="1463040" cy="3200400"/>
          </a:xfrm>
          <a:prstGeom prst="roundRect">
            <a:avLst>
              <a:gd name="adj" fmla="val 7500"/>
            </a:avLst>
          </a:prstGeom>
          <a:solidFill>
            <a:srgbClr val="5B2D8E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0527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2377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1463040" cy="3200400"/>
          </a:xfrm>
          <a:prstGeom prst="roundRect">
            <a:avLst>
              <a:gd name="adj" fmla="val 75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691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 — Master Orchestration Script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NAV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Range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NAV 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(Equity Funds)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Beta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Nifty 50)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377440"/>
          <a:ext cx="8412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Fund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027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155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(α)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over benchmark (Nifty 50). Positive alpha = outperformance.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155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(β)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vs market. β &lt; 1 means less volatile than Nifty 50.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5B2D8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return. Higher = better return per unit of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3035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Error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benchmark. Lower = more consistent with index.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Fund Scorecard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097280"/>
                <a:gridCol w="1097280"/>
                <a:gridCol w="109728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Fund Name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Category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Alpha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Beta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Sharpe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Score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fund_scorecard.csv — generated via Advanced_Analytics.ipynb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dashboard/ folder in Power BI Desktop to view the interactive .pbix 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7490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Comparison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7490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37490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Table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Risk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📉  Risk Heatmap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Alpha/Beta scatter plot for all funds mapped against Nifty 50 benchmark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Fund Recommender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fund suggestions based on composite scorecard from recommender.py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Tracking Error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analysis per fund category — identifies consistent index trackers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💹  Returns Comparison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611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 / 3Y / 5Y returns compared across fund categories with bar charts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0" cy="8686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78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funds outperform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category delivered 52% avg. NAV growth over 5 years vs 21% for debt funds.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640080" cy="868680"/>
          </a:xfrm>
          <a:prstGeom prst="roundRect">
            <a:avLst>
              <a:gd name="adj" fmla="val 14286"/>
            </a:avLst>
          </a:prstGeom>
          <a:solidFill>
            <a:srgbClr val="027A5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084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beta = stable returns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5059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with β &lt; 0.9 showed more consistent returns with less volatility during market downturns.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640080" cy="868680"/>
          </a:xfrm>
          <a:prstGeom prst="roundRect">
            <a:avLst>
              <a:gd name="adj" fmla="val 14286"/>
            </a:avLst>
          </a:prstGeom>
          <a:solidFill>
            <a:srgbClr val="5B2D8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090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alpha is rare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31% of funds delivered positive alpha consistently — selectivity is key for investors.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23360"/>
            <a:ext cx="640080" cy="868680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206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4096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ELSS offers dual benefit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46227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 funds showed competitive Sharpe ratios while offering Section 80C tax benefits.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— Internship Capstone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A8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Team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Abuzar  ·  Saireddy  ·  Vardhan  ·  Kartik  ·  Shruthi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github.com/mohdabuzar32/Project-ETL-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</dc:title>
  <dc:subject>PptxGenJS Presentation</dc:subject>
  <dc:creator>Bluestock Internship Team</dc:creator>
  <cp:lastModifiedBy>Bluestock Internship Team</cp:lastModifiedBy>
  <cp:revision>1</cp:revision>
  <dcterms:created xsi:type="dcterms:W3CDTF">2026-06-12T05:45:26Z</dcterms:created>
  <dcterms:modified xsi:type="dcterms:W3CDTF">2026-06-12T05:45:26Z</dcterms:modified>
</cp:coreProperties>
</file>